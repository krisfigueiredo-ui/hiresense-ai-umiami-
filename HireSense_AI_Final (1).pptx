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RggrTc4fLNqqEc4+nDQc806/5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Aisha K.</c:v>
                  </c:pt>
                  <c:pt idx="1">
                    <c:v>Sofia L.</c:v>
                  </c:pt>
                  <c:pt idx="2">
                    <c:v>Priya N.</c:v>
                  </c:pt>
                  <c:pt idx="3">
                    <c:v>Jamie P.</c:v>
                  </c:pt>
                  <c:pt idx="4">
                    <c:v>Marco R.</c:v>
                  </c:pt>
                  <c:pt idx="5">
                    <c:v>Devon W.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78</c:v>
                </c:pt>
                <c:pt idx="2">
                  <c:v>65</c:v>
                </c:pt>
                <c:pt idx="3">
                  <c:v>60</c:v>
                </c:pt>
                <c:pt idx="4">
                  <c:v>42</c:v>
                </c:pt>
                <c:pt idx="5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jamie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jamie</a:t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jamie</a:t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303520" y="-914400"/>
            <a:ext cx="5943600" cy="5943600"/>
          </a:xfrm>
          <a:prstGeom prst="ellipse">
            <a:avLst/>
          </a:prstGeom>
          <a:solidFill>
            <a:srgbClr val="2563EB">
              <a:alpha val="12156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0" y="457200"/>
            <a:ext cx="3474720" cy="3474720"/>
          </a:xfrm>
          <a:prstGeom prst="ellipse">
            <a:avLst/>
          </a:prstGeom>
          <a:solidFill>
            <a:srgbClr val="7C3AED">
              <a:alpha val="9019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92608" y="914400"/>
            <a:ext cx="2926080" cy="274320"/>
          </a:xfrm>
          <a:prstGeom prst="rect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92608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AI-POWERED TALENT INTELLIGENCE PLATFORM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92608" y="1325880"/>
            <a:ext cx="7315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HireSense AI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92608" y="2414016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Matching the right people to the right roles — faster, fairer, and with full transparency.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92608" y="301752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8FB0"/>
                </a:solidFill>
                <a:latin typeface="Calibri"/>
                <a:ea typeface="Calibri"/>
                <a:cs typeface="Calibri"/>
                <a:sym typeface="Calibri"/>
              </a:rPr>
              <a:t>MAS 691 — Large Language Models  | 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92608" y="3529584"/>
            <a:ext cx="1148486" cy="256032"/>
          </a:xfrm>
          <a:prstGeom prst="rect">
            <a:avLst/>
          </a:prstGeom>
          <a:solidFill>
            <a:srgbClr val="3B82F6">
              <a:alpha val="2196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92608" y="3529584"/>
            <a:ext cx="114848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532534" y="3529584"/>
            <a:ext cx="1527962" cy="256032"/>
          </a:xfrm>
          <a:prstGeom prst="rect">
            <a:avLst/>
          </a:prstGeom>
          <a:solidFill>
            <a:srgbClr val="14B8A6">
              <a:alpha val="21960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532534" y="3529584"/>
            <a:ext cx="15279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51937" y="3529584"/>
            <a:ext cx="1224382" cy="256032"/>
          </a:xfrm>
          <a:prstGeom prst="rect">
            <a:avLst/>
          </a:prstGeom>
          <a:solidFill>
            <a:srgbClr val="34D399">
              <a:alpha val="21960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151937" y="3529584"/>
            <a:ext cx="122438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OpenAI GPT-4o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467758" y="3529584"/>
            <a:ext cx="1452067" cy="256032"/>
          </a:xfrm>
          <a:prstGeom prst="rect">
            <a:avLst/>
          </a:prstGeom>
          <a:solidFill>
            <a:srgbClr val="FB923C">
              <a:alpha val="21960"/>
            </a:srgbClr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467758" y="3529584"/>
            <a:ext cx="1452067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Anthropic Claude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266" y="3529584"/>
            <a:ext cx="1831543" cy="256032"/>
          </a:xfrm>
          <a:prstGeom prst="rect">
            <a:avLst/>
          </a:prstGeom>
          <a:solidFill>
            <a:srgbClr val="A78BFA">
              <a:alpha val="21960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011266" y="3529584"/>
            <a:ext cx="18315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Python · Dash · Colab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92608" y="4709160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FB0"/>
                </a:solidFill>
                <a:latin typeface="Calibri"/>
                <a:ea typeface="Calibri"/>
                <a:cs typeface="Calibri"/>
                <a:sym typeface="Calibri"/>
              </a:rPr>
              <a:t>Waleed El-Jack  ·  Kristofor Figueiredo  ·  Kevin Ordet  ·  Jamie Shook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410C"/>
          </a:solidFill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2410C"/>
          </a:solidFill>
          <a:ln cap="flat" cmpd="sng" w="1270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Meet the Team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292608" y="1207008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292608" y="1207008"/>
            <a:ext cx="420624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457200" y="1371600"/>
            <a:ext cx="658368" cy="65836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457200" y="137160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1261872" y="137160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Waleed El-Jack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1261872" y="164592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 Pipeline Lead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9"/>
          <p:cNvCxnSpPr/>
          <p:nvPr/>
        </p:nvCxnSpPr>
        <p:spPr>
          <a:xfrm>
            <a:off x="457200" y="2084832"/>
            <a:ext cx="3877056" cy="0"/>
          </a:xfrm>
          <a:prstGeom prst="straightConnector1">
            <a:avLst/>
          </a:prstGeom>
          <a:noFill/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/>
          <p:nvPr/>
        </p:nvSpPr>
        <p:spPr>
          <a:xfrm>
            <a:off x="457200" y="215798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the data backbone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handling resume and job data, setting up the database, and preparing for analysis.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4718304" y="1207008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4718304" y="1207008"/>
            <a:ext cx="420624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4882896" y="1371600"/>
            <a:ext cx="658368" cy="6583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4882896" y="137160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5687568" y="137160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Kevin Ordet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5687568" y="164592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RAG &amp; Prompt Engineer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9"/>
          <p:cNvCxnSpPr/>
          <p:nvPr/>
        </p:nvCxnSpPr>
        <p:spPr>
          <a:xfrm>
            <a:off x="4882896" y="2084832"/>
            <a:ext cx="3877056" cy="0"/>
          </a:xfrm>
          <a:prstGeom prst="straightConnector1">
            <a:avLst/>
          </a:prstGeom>
          <a:noFill/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9"/>
          <p:cNvSpPr/>
          <p:nvPr/>
        </p:nvSpPr>
        <p:spPr>
          <a:xfrm>
            <a:off x="4882896" y="215798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Designed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the retrieval system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cosine similarity ranking, top-k chunk selection, and crafting the LLM scoring prompts.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292608" y="3081528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292608" y="3081528"/>
            <a:ext cx="420624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457200" y="3246120"/>
            <a:ext cx="658368" cy="6583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457200" y="32461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1261872" y="324612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Kristofor Figueiredo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1261872" y="352044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LLM Scoring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9"/>
          <p:cNvCxnSpPr/>
          <p:nvPr/>
        </p:nvCxnSpPr>
        <p:spPr>
          <a:xfrm>
            <a:off x="457200" y="3959352"/>
            <a:ext cx="3877056" cy="0"/>
          </a:xfrm>
          <a:prstGeom prst="straightConnector1">
            <a:avLst/>
          </a:prstGeom>
          <a:noFill/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9"/>
          <p:cNvSpPr/>
          <p:nvPr/>
        </p:nvSpPr>
        <p:spPr>
          <a:xfrm>
            <a:off x="457200" y="403250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Constructed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the LLM output layer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structuring JSON responses, skill gap analysis, and integrating OpenAI and Anthropic APIs.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4718304" y="3081528"/>
            <a:ext cx="4206240" cy="17373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4718304" y="3081528"/>
            <a:ext cx="420624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4882896" y="3246120"/>
            <a:ext cx="658368" cy="6583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882896" y="32461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5687568" y="3246120"/>
            <a:ext cx="3090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Jamie Shook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5687568" y="352044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Product &amp; Evaluation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9"/>
          <p:cNvCxnSpPr/>
          <p:nvPr/>
        </p:nvCxnSpPr>
        <p:spPr>
          <a:xfrm>
            <a:off x="4882896" y="3959352"/>
            <a:ext cx="3877056" cy="0"/>
          </a:xfrm>
          <a:prstGeom prst="straightConnector1">
            <a:avLst/>
          </a:prstGeom>
          <a:noFill/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9"/>
          <p:cNvSpPr/>
          <p:nvPr/>
        </p:nvSpPr>
        <p:spPr>
          <a:xfrm>
            <a:off x="4882896" y="403250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Focused on the user experience: building the dashboard, testing performance, and pulling everything together for the final product.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Hiring Is Broken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92608" y="1261872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292608" y="1261872"/>
            <a:ext cx="2743200" cy="45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292608" y="1371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402336" y="2029968"/>
            <a:ext cx="25237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Keyword Filtering Fails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02336" y="2404872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ATS systems reject qualified candidates who describe skills differently. A Python expert </a:t>
            </a: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writing </a:t>
            </a: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“s</a:t>
            </a: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cripting</a:t>
            </a: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gets eliminated before any human sees their resume.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02336" y="3657600"/>
            <a:ext cx="2523744" cy="1005840"/>
          </a:xfrm>
          <a:prstGeom prst="rect">
            <a:avLst/>
          </a:prstGeom>
          <a:solidFill>
            <a:srgbClr val="DC2626">
              <a:alpha val="10196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02336" y="3703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02336" y="417880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of resumes filtered 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before a human reads them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3236976" y="1261872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3236976" y="1261872"/>
            <a:ext cx="27432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3236976" y="1371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346704" y="2029968"/>
            <a:ext cx="25237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1" i="0" lang="en-US" sz="12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 Transparency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346704" y="2404872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Recruiters</a:t>
            </a: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receive ranked lists with no explanation why. Recruiters can't justify decisions or spot when the system is wrong.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346704" y="3657600"/>
            <a:ext cx="2523744" cy="1005840"/>
          </a:xfrm>
          <a:prstGeom prst="rect">
            <a:avLst/>
          </a:prstGeom>
          <a:solidFill>
            <a:srgbClr val="D97706">
              <a:alpha val="10196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346704" y="3703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346704" y="417880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of hiring managers say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their ATS misses talent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181344" y="1261872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181344" y="1261872"/>
            <a:ext cx="274320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181344" y="1371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291072" y="2029968"/>
            <a:ext cx="25237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Time-Consuming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291072" y="2404872"/>
            <a:ext cx="2523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Reviewing hundreds of resumes per role manually costs weeks of recruiter time, slowing down hiring and causing companies to lose top candidates to faster competitors.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91072" y="3657600"/>
            <a:ext cx="2523744" cy="1005840"/>
          </a:xfrm>
          <a:prstGeom prst="rect">
            <a:avLst/>
          </a:prstGeom>
          <a:solidFill>
            <a:srgbClr val="7C3AED">
              <a:alpha val="10196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291072" y="3703320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23 days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291072" y="417880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average time-to-hire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for tech roles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HireSense AI — Core </a:t>
            </a:r>
            <a:r>
              <a:rPr b="1" lang="en-US" sz="300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92608" y="12618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92608" y="1261872"/>
            <a:ext cx="274320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20624" y="1389888"/>
            <a:ext cx="420624" cy="420624"/>
          </a:xfrm>
          <a:prstGeom prst="ellipse">
            <a:avLst/>
          </a:prstGeom>
          <a:solidFill>
            <a:srgbClr val="2563EB">
              <a:alpha val="18039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20624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950976" y="14081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Semantic Resume Matching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02336" y="18288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Finds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the most relevant 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parts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of each resume using RAG and cosine similarity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matching by meaning, not keywords. Candidates who describe the same skills differently still s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howup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36976" y="12618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236976" y="1261872"/>
            <a:ext cx="274320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364992" y="1389888"/>
            <a:ext cx="420624" cy="420624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3364992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895344" y="14081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Explainable Candidate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3346704" y="18288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Every candidate gets a 0-100 score with a simple explanation of why, including strengths, skill gaps, and overall fit.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181344" y="12618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181344" y="1261872"/>
            <a:ext cx="274320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309360" y="1389888"/>
            <a:ext cx="420624" cy="420624"/>
          </a:xfrm>
          <a:prstGeom prst="ellipse">
            <a:avLst/>
          </a:prstGeom>
          <a:solidFill>
            <a:srgbClr val="7C3AED">
              <a:alpha val="18039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309360" y="13898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839712" y="14081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AI-Generated Interview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291072" y="18288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The LLM auto-generates 3 targeted interview questions per candidate, 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specific to their backgroun and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the job description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saving hours of prep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92608" y="30906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292608" y="3090672"/>
            <a:ext cx="2743200" cy="457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420624" y="3218688"/>
            <a:ext cx="420624" cy="420624"/>
          </a:xfrm>
          <a:prstGeom prst="ellipse">
            <a:avLst/>
          </a:prstGeom>
          <a:solidFill>
            <a:srgbClr val="16A34A">
              <a:alpha val="18039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420624" y="32186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950976" y="32369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Resume Upload + URL Job Fetch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02336" y="36576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Recruiters drag 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drop PDF resumes directly into the tool. Job descriptions can be pasted or fetched automatically from any company careers page URL.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236976" y="30906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236976" y="3090672"/>
            <a:ext cx="27432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3364992" y="3218688"/>
            <a:ext cx="420624" cy="420624"/>
          </a:xfrm>
          <a:prstGeom prst="ellipse">
            <a:avLst/>
          </a:prstGeom>
          <a:solidFill>
            <a:srgbClr val="D97706">
              <a:alpha val="18039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3364992" y="32186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895344" y="32369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Dual LLM — ChatGPT &amp; Claude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346704" y="36576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Run analysis through both OpenAI and Anthropic simultaneously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then compare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scores side-by-side to look at differences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181344" y="3090672"/>
            <a:ext cx="2743200" cy="1682496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181344" y="3090672"/>
            <a:ext cx="2743200" cy="45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309360" y="3218688"/>
            <a:ext cx="420624" cy="420624"/>
          </a:xfrm>
          <a:prstGeom prst="ellipse">
            <a:avLst/>
          </a:prstGeom>
          <a:solidFill>
            <a:srgbClr val="DC2626">
              <a:alpha val="18039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309360" y="32186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839712" y="323697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Full RAG Transparency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291072" y="36576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80"/>
              <a:buFont typeface="Calibri"/>
              <a:buNone/>
            </a:pP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Expand any candidate card to see the exact r</a:t>
            </a:r>
            <a:r>
              <a:rPr lang="en-US" sz="88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parts of the resume used in analysis. This allows for </a:t>
            </a:r>
            <a:r>
              <a:rPr b="0" i="0" lang="en-US" sz="88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full visibility into every step of the RAG pipeline.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The RAG Pipeline — Step by Step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56032" y="1261872"/>
            <a:ext cx="1298400" cy="26151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56032" y="1261872"/>
            <a:ext cx="1298448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90369" y="1687088"/>
            <a:ext cx="420600" cy="4206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90369" y="1687075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10896" y="2487168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Upload Resume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-US" sz="9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Job 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10896" y="3017520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PDF · TXT · URL fetch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426464" y="196596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737360" y="1261872"/>
            <a:ext cx="1298448" cy="261518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1737360" y="1261872"/>
            <a:ext cx="1298448" cy="457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2176247" y="1687075"/>
            <a:ext cx="420600" cy="420600"/>
          </a:xfrm>
          <a:prstGeom prst="ellipse">
            <a:avLst/>
          </a:prstGeom>
          <a:solidFill>
            <a:srgbClr val="000000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2176272" y="16870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792224" y="24871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Break Text into Sections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792224" y="3017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split_into_chunks(80 words)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907792" y="196596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218688" y="1261872"/>
            <a:ext cx="1298448" cy="261518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3218688" y="1261872"/>
            <a:ext cx="1298448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657600" y="1687075"/>
            <a:ext cx="420600" cy="420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657613" y="16870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273552" y="24871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&amp; Encode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3273552" y="3017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keyword-vector encoding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389120" y="196596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700016" y="1261872"/>
            <a:ext cx="1298448" cy="261518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700016" y="1261872"/>
            <a:ext cx="1298448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5138928" y="1687075"/>
            <a:ext cx="420600" cy="4206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5138941" y="16870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4754880" y="24871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754880" y="3017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compare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 resume chunks </a:t>
            </a:r>
            <a:r>
              <a:rPr lang="en-US" sz="800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with job description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870448" y="196596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181344" y="1261872"/>
            <a:ext cx="1298448" cy="261518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181344" y="1261872"/>
            <a:ext cx="1298448" cy="457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620256" y="1687075"/>
            <a:ext cx="420600" cy="420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620269" y="16870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236208" y="24871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RAG Retrieve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Top Chunks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236208" y="3017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top-k most relevant context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7351776" y="196596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662672" y="1261872"/>
            <a:ext cx="1298448" cy="2615184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7662672" y="1261872"/>
            <a:ext cx="1298448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8110734" y="1687075"/>
            <a:ext cx="420600" cy="4206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8101609" y="168708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7717536" y="24871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LLM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+ Questions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7717536" y="3017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structured JSON 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256032" y="3977640"/>
            <a:ext cx="8631936" cy="877824"/>
          </a:xfrm>
          <a:prstGeom prst="rect">
            <a:avLst/>
          </a:prstGeom>
          <a:solidFill>
            <a:srgbClr val="2563EB">
              <a:alpha val="7843"/>
            </a:srgbClr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384048" y="405079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72208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Ranked Candidates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2268492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Match Score 0–100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3722377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910974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Skill Gaps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6322246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7689255" y="4041648"/>
            <a:ext cx="118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Interview Questions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 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292608" y="1170432"/>
            <a:ext cx="4133088" cy="37490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292608" y="1170432"/>
            <a:ext cx="4133088" cy="274320"/>
          </a:xfrm>
          <a:prstGeom prst="rect">
            <a:avLst/>
          </a:prstGeom>
          <a:solidFill>
            <a:srgbClr val="142038"/>
          </a:solidFill>
          <a:ln cap="flat" cmpd="sng" w="12700">
            <a:solidFill>
              <a:srgbClr val="14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02336" y="1170432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7B8FB0"/>
                </a:solidFill>
                <a:latin typeface="Consolas"/>
                <a:ea typeface="Consolas"/>
                <a:cs typeface="Consolas"/>
                <a:sym typeface="Consolas"/>
              </a:rPr>
              <a:t>Steps 2 and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02336" y="1499616"/>
            <a:ext cx="3913632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WHY: resumes are too long for one comparison.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We split into 80-word windows so cosine similarity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scores specific sections, not just the full doc.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split_string_into_chunks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(text, size=80):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words = text.split()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.join(words[i:i+size])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for i in range(0, len(words), size)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] or [text]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WHY: we encode text as a keyword-presence vector.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Each dimension = one skill keyword (e.g. 'python',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'rag', 'pytorch'). Fast, no API call needed.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model_encode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(self, text):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lower = text.lower()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np.array([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min(len(re.findall(k, lower)) / 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    for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k </a:t>
            </a: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self.KEYWORDS  # 50 tech keywords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])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700016" y="1170432"/>
            <a:ext cx="4133088" cy="37490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4700016" y="1170432"/>
            <a:ext cx="4133088" cy="274320"/>
          </a:xfrm>
          <a:prstGeom prst="rect">
            <a:avLst/>
          </a:prstGeom>
          <a:solidFill>
            <a:srgbClr val="142038"/>
          </a:solidFill>
          <a:ln cap="flat" cmpd="sng" w="12700">
            <a:solidFill>
              <a:srgbClr val="14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809744" y="1170432"/>
            <a:ext cx="3986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7B8FB0"/>
                </a:solidFill>
                <a:latin typeface="Consolas"/>
                <a:ea typeface="Consolas"/>
                <a:cs typeface="Consolas"/>
                <a:sym typeface="Consolas"/>
              </a:rPr>
              <a:t>Steps 4 and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809744" y="1499616"/>
            <a:ext cx="3913632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WHY: cosine similarity measures the angle between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two vectors — 1.0 = perfect match, 0 = no overlap.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Ranks all resume chunks vs the JD embedding.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retrieve_top_chunks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(self, q_emb, chunks, k=3):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sims = cosine_similarity(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[q_emb],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[self.model_encode(c) for c in chunks]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)[0]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    # argsort gives ascending — [::-1] reverses it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.join(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chunks[i] for i in np.argsort(sims)[::-1][:k]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WHY: full RAG pipeline — combines all 3 steps.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Returns context (best chunks) + similarity score.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RAG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(self, query, resume_text):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q_emb   = self.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model_encode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(query)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chunks  = self.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split_string_into_chunks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(resume_text)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context = self.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retrieve_top_chunks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(q_emb, chunks)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sim     = cosine_similarity([q_emb],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         [self.model_encode(resume_text)])[0][0]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{context, similarity: sim}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API KEYS &amp; LLM INTEGRATION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Connecting to ChatGPT &amp; Claude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292608" y="1371445"/>
            <a:ext cx="4133100" cy="23958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292608" y="1358571"/>
            <a:ext cx="4133100" cy="274200"/>
          </a:xfrm>
          <a:prstGeom prst="rect">
            <a:avLst/>
          </a:prstGeom>
          <a:solidFill>
            <a:srgbClr val="142038"/>
          </a:solidFill>
          <a:ln cap="flat" cmpd="sng" w="12700">
            <a:solidFill>
              <a:srgbClr val="14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02336" y="1371445"/>
            <a:ext cx="39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B8FB0"/>
                </a:solidFill>
                <a:latin typeface="Consolas"/>
                <a:ea typeface="Consolas"/>
                <a:cs typeface="Consolas"/>
                <a:sym typeface="Consolas"/>
              </a:rPr>
              <a:t>prompt_function_openai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02336" y="1700629"/>
            <a:ext cx="39135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-US" sz="800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as a messages list — role + content — exactly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like generate_response() from class.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prompt_function_openai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(self, prompt, key, model):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client = OpenAI(api_key=key) 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your sk-... key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r = client.chat.completions.create(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model=model, 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e.g. 'gpt-4o'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temperature=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deterministic output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messages=[{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: prompt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}]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r.choices[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].message.content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700016" y="1371445"/>
            <a:ext cx="4133100" cy="23958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700016" y="1371445"/>
            <a:ext cx="4133100" cy="274200"/>
          </a:xfrm>
          <a:prstGeom prst="rect">
            <a:avLst/>
          </a:prstGeom>
          <a:solidFill>
            <a:srgbClr val="142038"/>
          </a:solidFill>
          <a:ln cap="flat" cmpd="sng" w="12700">
            <a:solidFill>
              <a:srgbClr val="142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809744" y="1371445"/>
            <a:ext cx="39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B8FB0"/>
                </a:solidFill>
                <a:latin typeface="Consolas"/>
                <a:ea typeface="Consolas"/>
                <a:cs typeface="Consolas"/>
                <a:sym typeface="Consolas"/>
              </a:rPr>
              <a:t>prompt_function_anthropic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809744" y="1700629"/>
            <a:ext cx="39135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inject context into a structured prompt string,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then call the LLM and parse the response.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prompt_function_anthropic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(self, prompt, key, model):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client = _ant.Anthropic(api_key=key) 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sk-ant-...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m = client.messages.create(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model=model,  </a:t>
            </a:r>
            <a: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  <a:t># e.g. 'claude-opus-4-5'</a:t>
            </a:r>
            <a:br>
              <a:rPr b="0" i="0" lang="en-US" sz="800" u="none" cap="none" strike="noStrike">
                <a:solidFill>
                  <a:srgbClr val="6B7A9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max_tokens=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messages=[{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800" u="none" cap="none" strike="noStrik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: prompt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    }]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m.content[</a:t>
            </a:r>
            <a:r>
              <a:rPr b="0" i="0" lang="en-US" sz="800" u="none" cap="none" strike="noStrike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  <a:t>].text</a:t>
            </a:r>
            <a:br>
              <a:rPr b="0" i="0" lang="en-US" sz="800" u="none" cap="none" strike="noStrike">
                <a:solidFill>
                  <a:srgbClr val="E2E8F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WHY IT'S BETTER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HireSense vs. Traditional ATS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92608" y="1207008"/>
            <a:ext cx="8558784" cy="384048"/>
          </a:xfrm>
          <a:prstGeom prst="rect">
            <a:avLst/>
          </a:prstGeom>
          <a:solidFill>
            <a:srgbClr val="0F1F3D"/>
          </a:solidFill>
          <a:ln cap="flat" cmpd="sng" w="12700">
            <a:solidFill>
              <a:srgbClr val="0F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84048" y="120700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304288" y="120700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596128" y="120700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HIRESENSE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92608" y="1618488"/>
            <a:ext cx="8558784" cy="50292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384048" y="1783080"/>
            <a:ext cx="128016" cy="12801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66928" y="161848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Matching Method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2304288" y="1618488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542032" y="161848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Keyword matching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596128" y="1618488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815584" y="161848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Semantic RAG + cosine 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292608" y="2148840"/>
            <a:ext cx="855878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384048" y="2313432"/>
            <a:ext cx="128016" cy="12801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566928" y="2148840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304288" y="214884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2542032" y="214884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Black-box ranking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596128" y="214884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815584" y="21488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Clear explanations</a:t>
            </a: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 + skill gap breakdown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92608" y="2679192"/>
            <a:ext cx="8558784" cy="50292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384048" y="2843784"/>
            <a:ext cx="128016" cy="128016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566928" y="2679192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Interview Prep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304288" y="2679192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2542032" y="267919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Manual, hours of 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596128" y="2679192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815584" y="2679192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-generated tailored questions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92608" y="3209544"/>
            <a:ext cx="855878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384048" y="3374136"/>
            <a:ext cx="128016" cy="12801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566928" y="3209544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Missed Talent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2304288" y="3209544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542032" y="320954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75% filtered unfairly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596128" y="3209544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815584" y="32095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Meaning-based — no wording bias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292608" y="3739896"/>
            <a:ext cx="8558784" cy="50292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384048" y="3904488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566928" y="3739896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LLM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2304288" y="3739896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2542032" y="373989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596128" y="3739896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815584" y="3739896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ChatGPT + Claude, side-by-side compare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292608" y="4270248"/>
            <a:ext cx="8558784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384048" y="4434840"/>
            <a:ext cx="128016" cy="128016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566928" y="427024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Resume 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2304288" y="4270248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542032" y="427024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Text form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5596128" y="4270248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5815584" y="427024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PDF upload + URL job description fetch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292608" y="182880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LIVE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92608" y="4572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Sample Analysis Output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8"/>
          <p:cNvGraphicFramePr/>
          <p:nvPr/>
        </p:nvGraphicFramePr>
        <p:xfrm>
          <a:off x="292608" y="1115568"/>
          <a:ext cx="5230368" cy="354787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1" name="Google Shape;311;p8"/>
          <p:cNvSpPr/>
          <p:nvPr/>
        </p:nvSpPr>
        <p:spPr>
          <a:xfrm>
            <a:off x="5779008" y="1115568"/>
            <a:ext cx="3090672" cy="354787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1B2A4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779008" y="1115568"/>
            <a:ext cx="3090672" cy="457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897880" y="1188720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#1 — Aisha Khan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897880" y="1508760"/>
            <a:ext cx="2871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ML Engineer · 6 yrs exp · 89% similarity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897880" y="17830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766560" y="21488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/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897880" y="2560320"/>
            <a:ext cx="2816352" cy="91440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5897880" y="2560320"/>
            <a:ext cx="2560320" cy="914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897880" y="2779776"/>
            <a:ext cx="281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897880" y="2980944"/>
            <a:ext cx="2816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Production RAG/LLM expertise, MLOps, team leadership, published NLP researcher.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897880" y="3511296"/>
            <a:ext cx="281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SKILL MATCH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897880" y="3749040"/>
            <a:ext cx="612648" cy="201168"/>
          </a:xfrm>
          <a:prstGeom prst="rect">
            <a:avLst/>
          </a:prstGeom>
          <a:solidFill>
            <a:srgbClr val="16A34A">
              <a:alpha val="14901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897880" y="3749040"/>
            <a:ext cx="612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6565392" y="3749040"/>
            <a:ext cx="681228" cy="201168"/>
          </a:xfrm>
          <a:prstGeom prst="rect">
            <a:avLst/>
          </a:prstGeom>
          <a:solidFill>
            <a:srgbClr val="16A34A">
              <a:alpha val="14901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6565392" y="3749040"/>
            <a:ext cx="6812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301484" y="3749040"/>
            <a:ext cx="406908" cy="201168"/>
          </a:xfrm>
          <a:prstGeom prst="rect">
            <a:avLst/>
          </a:prstGeom>
          <a:solidFill>
            <a:srgbClr val="16A34A">
              <a:alpha val="14901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7301484" y="3749040"/>
            <a:ext cx="4069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7763256" y="3749040"/>
            <a:ext cx="818388" cy="201168"/>
          </a:xfrm>
          <a:prstGeom prst="rect">
            <a:avLst/>
          </a:prstGeom>
          <a:solidFill>
            <a:srgbClr val="16A34A">
              <a:alpha val="14901"/>
            </a:srgbClr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7763256" y="3749040"/>
            <a:ext cx="8183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897880" y="4096512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"Describe a production RAG pipeline you designed at scale."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0" y="749808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0" y="1719072"/>
            <a:ext cx="91440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HireSense AI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0" y="2615184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Smarter. Fairer. Explainable.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920240" y="3246120"/>
            <a:ext cx="1600200" cy="74980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1920240" y="327355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920240" y="362102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Semantic Matching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749040" y="3246120"/>
            <a:ext cx="1600200" cy="74980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3749040" y="327355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749040" y="362102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Explainable Scores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577840" y="3246120"/>
            <a:ext cx="1600200" cy="74980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5577840" y="327355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577840" y="362102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Dual LLM Power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0" y="4709160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FB0"/>
                </a:solidFill>
                <a:latin typeface="Calibri"/>
                <a:ea typeface="Calibri"/>
                <a:cs typeface="Calibri"/>
                <a:sym typeface="Calibri"/>
              </a:rPr>
              <a:t>MAS 691 — Large Language Models  |  April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0" y="431596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F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FB0"/>
                </a:solidFill>
                <a:latin typeface="Calibri"/>
                <a:ea typeface="Calibri"/>
                <a:cs typeface="Calibri"/>
                <a:sym typeface="Calibri"/>
              </a:rPr>
              <a:t>Waleed El-Jack  ·  Kristofor Figueiredo  ·  Kevin Ordet  ·  Jamie Shook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2026-04-28T00:41:56Z</dcterms:created>
  <dc:creator>Waleed El-Jack · Kristofor Figueiredo · Kevin Ordet · Jamie Shook</dc:creator>
</cp:coreProperties>
</file>